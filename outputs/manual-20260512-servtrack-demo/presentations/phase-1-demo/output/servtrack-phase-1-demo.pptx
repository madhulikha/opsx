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fe138ff6fd940e2" /><Relationship Type="http://schemas.openxmlformats.org/officeDocument/2006/relationships/extended-properties" Target="/docProps/app.xml" Id="Ra8152149195047de" /><Relationship Type="http://schemas.openxmlformats.org/officeDocument/2006/relationships/officeDocument" Target="/ppt/presentation.xml" Id="Rb8880fbc5e4c453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abfa81d13394874"/>
  </p:sldMasterIdLst>
  <p:notesMasterIdLst>
    <p:notesMasterId xmlns:r="http://schemas.openxmlformats.org/officeDocument/2006/relationships" r:id="R3ccfb6ec76014e13"/>
  </p:notesMasterIdLst>
  <p:sldIdLst>
    <p:sldId xmlns:r="http://schemas.openxmlformats.org/officeDocument/2006/relationships" id="256" r:id="R047c33ab643b4d18"/>
    <p:sldId xmlns:r="http://schemas.openxmlformats.org/officeDocument/2006/relationships" id="257" r:id="R3afe68f7a4534596"/>
    <p:sldId xmlns:r="http://schemas.openxmlformats.org/officeDocument/2006/relationships" id="258" r:id="Rbce360147c4e4d73"/>
    <p:sldId xmlns:r="http://schemas.openxmlformats.org/officeDocument/2006/relationships" id="259" r:id="R1e36404ae03a4b2c"/>
    <p:sldId xmlns:r="http://schemas.openxmlformats.org/officeDocument/2006/relationships" id="260" r:id="Radfec4e722b640ce"/>
    <p:sldId xmlns:r="http://schemas.openxmlformats.org/officeDocument/2006/relationships" id="261" r:id="R7a27e9290ea142b1"/>
    <p:sldId xmlns:r="http://schemas.openxmlformats.org/officeDocument/2006/relationships" id="262" r:id="R9479086430a642e8"/>
    <p:sldId xmlns:r="http://schemas.openxmlformats.org/officeDocument/2006/relationships" id="263" r:id="R1da3394c6d534d92"/>
    <p:sldId xmlns:r="http://schemas.openxmlformats.org/officeDocument/2006/relationships" id="264" r:id="R1cd4087216bb4812"/>
    <p:sldId xmlns:r="http://schemas.openxmlformats.org/officeDocument/2006/relationships" id="265" r:id="R3b4ad8a958eb432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bfa81d13394874" /><Relationship Type="http://schemas.openxmlformats.org/officeDocument/2006/relationships/theme" Target="/ppt/theme/theme1.xml" Id="R13feb0e894264afd" /><Relationship Type="http://schemas.openxmlformats.org/officeDocument/2006/relationships/notesMaster" Target="/ppt/notesMasters/notesMaster1.xml" Id="R3ccfb6ec76014e13" /><Relationship Type="http://schemas.openxmlformats.org/officeDocument/2006/relationships/presProps" Target="/ppt/presProps.xml" Id="R94497764be564d12" /><Relationship Type="http://schemas.openxmlformats.org/officeDocument/2006/relationships/viewProps" Target="/ppt/viewProps.xml" Id="R27107a4cb0734b5b" /><Relationship Type="http://schemas.openxmlformats.org/officeDocument/2006/relationships/tableStyles" Target="/ppt/tableStyles.xml" Id="R92d70cf2104841f9" /><Relationship Type="http://schemas.openxmlformats.org/officeDocument/2006/relationships/slide" Target="/ppt/slides/slide1.xml" Id="R047c33ab643b4d18" /><Relationship Type="http://schemas.openxmlformats.org/officeDocument/2006/relationships/slide" Target="/ppt/slides/slide2.xml" Id="R3afe68f7a4534596" /><Relationship Type="http://schemas.openxmlformats.org/officeDocument/2006/relationships/slide" Target="/ppt/slides/slide3.xml" Id="Rbce360147c4e4d73" /><Relationship Type="http://schemas.openxmlformats.org/officeDocument/2006/relationships/slide" Target="/ppt/slides/slide4.xml" Id="R1e36404ae03a4b2c" /><Relationship Type="http://schemas.openxmlformats.org/officeDocument/2006/relationships/slide" Target="/ppt/slides/slide5.xml" Id="Radfec4e722b640ce" /><Relationship Type="http://schemas.openxmlformats.org/officeDocument/2006/relationships/slide" Target="/ppt/slides/slide6.xml" Id="R7a27e9290ea142b1" /><Relationship Type="http://schemas.openxmlformats.org/officeDocument/2006/relationships/slide" Target="/ppt/slides/slide7.xml" Id="R9479086430a642e8" /><Relationship Type="http://schemas.openxmlformats.org/officeDocument/2006/relationships/slide" Target="/ppt/slides/slide8.xml" Id="R1da3394c6d534d92" /><Relationship Type="http://schemas.openxmlformats.org/officeDocument/2006/relationships/slide" Target="/ppt/slides/slide9.xml" Id="R1cd4087216bb4812" /><Relationship Type="http://schemas.openxmlformats.org/officeDocument/2006/relationships/slide" Target="/ppt/slides/slide10.xml" Id="R3b4ad8a958eb432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532707118bd1417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df44427d4b244cf" /><Relationship Type="http://schemas.openxmlformats.org/officeDocument/2006/relationships/notesMaster" Target="/ppt/notesMasters/notesMaster1.xml" Id="R559466dcdb894bd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6dbd14a424942a4" /><Relationship Type="http://schemas.openxmlformats.org/officeDocument/2006/relationships/notesMaster" Target="/ppt/notesMasters/notesMaster1.xml" Id="R6b0073348a18431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dd99bb79f8140d5" /><Relationship Type="http://schemas.openxmlformats.org/officeDocument/2006/relationships/notesMaster" Target="/ppt/notesMasters/notesMaster1.xml" Id="Ra4752f512dd94d9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543864f04e44dff" /><Relationship Type="http://schemas.openxmlformats.org/officeDocument/2006/relationships/notesMaster" Target="/ppt/notesMasters/notesMaster1.xml" Id="R8059055727bb482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9d892611725444b" /><Relationship Type="http://schemas.openxmlformats.org/officeDocument/2006/relationships/notesMaster" Target="/ppt/notesMasters/notesMaster1.xml" Id="R6b35431a6eec47f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770e866201c4d42" /><Relationship Type="http://schemas.openxmlformats.org/officeDocument/2006/relationships/notesMaster" Target="/ppt/notesMasters/notesMaster1.xml" Id="Rd539c159c90a4b7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beaf0ebc824481d" /><Relationship Type="http://schemas.openxmlformats.org/officeDocument/2006/relationships/notesMaster" Target="/ppt/notesMasters/notesMaster1.xml" Id="R2c863d2e063b438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4fcfbfe95dd4456" /><Relationship Type="http://schemas.openxmlformats.org/officeDocument/2006/relationships/notesMaster" Target="/ppt/notesMasters/notesMaster1.xml" Id="R91df8c65b4c241c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3fc447bdfe84ae4" /><Relationship Type="http://schemas.openxmlformats.org/officeDocument/2006/relationships/notesMaster" Target="/ppt/notesMasters/notesMaster1.xml" Id="R68836e129142474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36ca29f19ac41ab" /><Relationship Type="http://schemas.openxmlformats.org/officeDocument/2006/relationships/notesMaster" Target="/ppt/notesMasters/notesMaster1.xml" Id="Rb4c2bf215e8e47b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e0df8ed3754a82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0e39e554dfb7439a" /><Relationship Type="http://schemas.openxmlformats.org/officeDocument/2006/relationships/slideLayout" Target="/ppt/slideLayouts/slideLayout2.xml" Id="Rfcbaf1b9c1b44ec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cbaf1b9c1b44ec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ec02edd612e482e" /><Relationship Type="http://schemas.openxmlformats.org/officeDocument/2006/relationships/image" Target="/ppt/media/image.png" Id="R9f7fa6694c0a42b1" /><Relationship Type="http://schemas.openxmlformats.org/officeDocument/2006/relationships/notesSlide" Target="/ppt/notesSlides/notesSlide1.xml" Id="R5dbe8e78d02c498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c345ea9637a4dd6" /><Relationship Type="http://schemas.openxmlformats.org/officeDocument/2006/relationships/notesSlide" Target="/ppt/notesSlides/notesSlide2.xml" Id="Ra9f8d994f9b1486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1e2ca981b7d431e" /><Relationship Type="http://schemas.openxmlformats.org/officeDocument/2006/relationships/notesSlide" Target="/ppt/notesSlides/notesSlide3.xml" Id="R6a0c98e7f939439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86c96e2f8384762" /><Relationship Type="http://schemas.openxmlformats.org/officeDocument/2006/relationships/notesSlide" Target="/ppt/notesSlides/notesSlide4.xml" Id="R077c0f8c236243e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af64ba80b1e40d1" /><Relationship Type="http://schemas.openxmlformats.org/officeDocument/2006/relationships/notesSlide" Target="/ppt/notesSlides/notesSlide5.xml" Id="R935ebfc6d89e46e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320257317fe4792" /><Relationship Type="http://schemas.openxmlformats.org/officeDocument/2006/relationships/notesSlide" Target="/ppt/notesSlides/notesSlide6.xml" Id="R1fd26a2bbce2489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4490ebc6aed4bb9" /><Relationship Type="http://schemas.openxmlformats.org/officeDocument/2006/relationships/notesSlide" Target="/ppt/notesSlides/notesSlide7.xml" Id="R423a9debc97241d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cfdf0b4f79f4615" /><Relationship Type="http://schemas.openxmlformats.org/officeDocument/2006/relationships/notesSlide" Target="/ppt/notesSlides/notesSlide8.xml" Id="R39b792bfc792462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d84b5ed100045e4" /><Relationship Type="http://schemas.openxmlformats.org/officeDocument/2006/relationships/notesSlide" Target="/ppt/notesSlides/notesSlide9.xml" Id="R7a4ccee28707468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e913ccc58104245" /><Relationship Type="http://schemas.openxmlformats.org/officeDocument/2006/relationships/notesSlide" Target="/ppt/notesSlides/notesSlide10.xml" Id="R569a147f4c054d2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A51EC49-A4FF-49F0-9073-6CB8B7160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7fa6694c0a42b1"/>
          <a:srcRect xmlns:a="http://schemas.openxmlformats.org/drawingml/2006/main" l="0" t="1585" r="0" b="15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0" y="647700"/>
            <a:ext cx="7562850" cy="47625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C4E551-1B9E-43A0-9D09-421E9F53C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11827"/>
              </a:gs>
              <a:gs pos="42000">
                <a:srgbClr val="111827">
                  <a:alpha val="86667"/>
                </a:srgbClr>
              </a:gs>
              <a:gs pos="100000">
                <a:srgbClr val="111827">
                  <a:alpha val="18824"/>
                </a:srgbClr>
              </a:gs>
            </a:gsLst>
            <a:lin ang="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BBA7FF-804F-4AFC-8B85-50247A61E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ServTrack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D45F5D-F098-4B4C-B03D-77F007FC7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85875"/>
            <a:ext cx="3048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FC2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AFC2FF"/>
                </a:solidFill>
                <a:latin typeface="Aptos"/>
                <a:ea typeface="Aptos"/>
                <a:cs typeface="Aptos"/>
              </a:rPr>
              <a:t>Phase 1 demo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16D1C2-5BDA-424E-9366-B7A7C5CE1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43125"/>
            <a:ext cx="41719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 role-routed maintenance workflow for facility requests, contractor execution, supervisor QC, and requester approval.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AA2434-7C73-42EF-9C3A-265E1FCBE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00450"/>
            <a:ext cx="4095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7DD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7DDEA"/>
                </a:solidFill>
                <a:latin typeface="Aptos"/>
                <a:ea typeface="Aptos"/>
                <a:cs typeface="Aptos"/>
              </a:rPr>
              <a:t>Built for the live demo: clear accountability, OTP-only end-user access, and encrypted end-user PII.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146DF7-7C7F-4354-B77E-1E5DE17C1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53000"/>
            <a:ext cx="14097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2F5BEA"/>
          </a:solidFill>
          <a:ln xmlns:a="http://schemas.openxmlformats.org/drawingml/2006/main" w="0">
            <a:solidFill>
              <a:srgbClr val="2F5B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3B9900-1769-41A2-9A80-AC38C3347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4825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Implemented scope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0B8396-FBE7-4BFA-8D48-B0D760E87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9829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98296"/>
                </a:solidFill>
                <a:latin typeface="Aptos"/>
                <a:ea typeface="Aptos"/>
                <a:cs typeface="Aptos"/>
              </a:rPr>
              <a:t>ServTrack Phase 1 demo | 01</a:t>
            </a:r>
          </a:p>
        </p:txBody>
      </p:sp>
    </p:spTree>
    <p:extLst>
      <p:ext uri="{BB962C8B-B14F-4D97-AF65-F5344CB8AC3E}">
        <p14:creationId xmlns:p14="http://schemas.microsoft.com/office/powerpoint/2010/main" val="131743544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19D470-A8E2-45B4-885D-33488AB24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C5E593-5009-46C5-9E40-7E3AF996B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5BE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5BEA"/>
                </a:solidFill>
                <a:latin typeface="Aptos"/>
                <a:ea typeface="Aptos"/>
                <a:cs typeface="Aptos"/>
              </a:rPr>
              <a:t>OPERATING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DE8846-F23E-4960-A6EE-01A65F1F6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7810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The product system is the work order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72EDCE-D841-406C-BEA2-B488F7761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8096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6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67A"/>
                </a:solidFill>
                <a:latin typeface="Aptos"/>
                <a:ea typeface="Aptos"/>
                <a:cs typeface="Aptos"/>
              </a:rPr>
              <a:t>Phase 1 makes each handoff explicit so requests do not disappear between admin, contractor, field, QC, and requester approval.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F76029-E416-4448-A76E-C7DED1E98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381250"/>
            <a:ext cx="2381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2F2764-DDFD-4284-9671-22D6ADDAA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72415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Work Order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8E66B3-F79D-4ABC-AE88-1FCDECF98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162300"/>
            <a:ext cx="1790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BAC4D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AC4D6"/>
                </a:solidFill>
                <a:latin typeface="Aptos"/>
                <a:ea typeface="Aptos"/>
                <a:cs typeface="Aptos"/>
              </a:rPr>
              <a:t>status + assignment + history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E8EAA7-DE15-426D-9858-6A661D7CA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25717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CEE693-93C4-4BBB-917E-3046FEEB6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999"/>
          </a:solidFill>
          <a:ln xmlns:a="http://schemas.openxmlformats.org/drawingml/2006/main" w="0">
            <a:solidFill>
              <a:srgbClr val="18A99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96F654-03BB-4131-9555-6B50785BF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62200"/>
            <a:ext cx="2171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End User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536222-D42C-4EA6-8AF9-7AC25CA1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05100"/>
            <a:ext cx="21717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6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67A"/>
                </a:solidFill>
                <a:latin typeface="Aptos"/>
                <a:ea typeface="Aptos"/>
                <a:cs typeface="Aptos"/>
              </a:rPr>
              <a:t>Raises a request and approves completed work when they requested it.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B45028-37CB-4FA2-9117-1E10CB37E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05250"/>
            <a:ext cx="25717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18E536-D645-4125-A577-A03C23A28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0525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BEA"/>
          </a:solidFill>
          <a:ln xmlns:a="http://schemas.openxmlformats.org/drawingml/2006/main" w="0">
            <a:solidFill>
              <a:srgbClr val="2F5B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DF99FD-3AA4-405D-B584-67B30994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76700"/>
            <a:ext cx="2171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Client Engineers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3DE984-39CA-4D9C-8A82-DE1CD1BCA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19600"/>
            <a:ext cx="21717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6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67A"/>
                </a:solidFill>
                <a:latin typeface="Aptos"/>
                <a:ea typeface="Aptos"/>
                <a:cs typeface="Aptos"/>
              </a:rPr>
              <a:t>Approve, reject, assign contractors, and manage users by subrole.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64BBE8-1117-47AF-9023-E58211E68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190750"/>
            <a:ext cx="25717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93D471-0354-4EF3-98CB-5A2A8D195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19075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A202"/>
          </a:solidFill>
          <a:ln xmlns:a="http://schemas.openxmlformats.org/drawingml/2006/main" w="0">
            <a:solidFill>
              <a:srgbClr val="F0A20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4E4F09-A384-40E6-A6DE-E0C18CD0C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62200"/>
            <a:ext cx="2171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Contractor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39CA2A-1874-47EF-ADC3-1C1A3595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05100"/>
            <a:ext cx="21717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6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67A"/>
                </a:solidFill>
                <a:latin typeface="Aptos"/>
                <a:ea typeface="Aptos"/>
                <a:cs typeface="Aptos"/>
              </a:rPr>
              <a:t>Receives approved work and assigns supervisor plus workman.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60C0A5-56E0-4661-BE8C-5C64DBEB9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905250"/>
            <a:ext cx="25717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6B1A95-0E86-4E27-A5CF-9D52B8825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90525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E4E"/>
          </a:solidFill>
          <a:ln xmlns:a="http://schemas.openxmlformats.org/drawingml/2006/main" w="0">
            <a:solidFill>
              <a:srgbClr val="D94E4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114549-BFE7-4254-839A-2A4455017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76700"/>
            <a:ext cx="2171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Field Team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7416E7-44AA-40A6-AE83-DAB322F7A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419600"/>
            <a:ext cx="21717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6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67A"/>
                </a:solidFill>
                <a:latin typeface="Aptos"/>
                <a:ea typeface="Aptos"/>
                <a:cs typeface="Aptos"/>
              </a:rPr>
              <a:t>Workman executes; supervisor validates QC before requester approval.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D10F1E-8A71-4B40-A55E-DB7D74F67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4305300"/>
            <a:ext cx="1809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CE6FF"/>
          </a:solidFill>
          <a:ln xmlns:a="http://schemas.openxmlformats.org/drawingml/2006/main" w="9525">
            <a:solidFill>
              <a:srgbClr val="2F5B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829B247-5BB5-4EEC-8C42-B7FB08349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371975"/>
            <a:ext cx="1581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5BE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5BEA"/>
                </a:solidFill>
                <a:latin typeface="Aptos"/>
                <a:ea typeface="Aptos"/>
                <a:cs typeface="Aptos"/>
              </a:rPr>
              <a:t>tenant scoped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2CBC9C-6320-4D99-BE39-373100529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9829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98296"/>
                </a:solidFill>
                <a:latin typeface="Aptos"/>
                <a:ea typeface="Aptos"/>
                <a:cs typeface="Aptos"/>
              </a:rPr>
              <a:t>ServTrack Phase 1 demo | 02</a:t>
            </a:r>
          </a:p>
        </p:txBody>
      </p:sp>
    </p:spTree>
    <p:extLst>
      <p:ext uri="{BB962C8B-B14F-4D97-AF65-F5344CB8AC3E}">
        <p14:creationId xmlns:p14="http://schemas.microsoft.com/office/powerpoint/2010/main" val="13703387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09EE592-1CF7-4E06-AC8F-1EB3850DB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D93C0B-EC36-4BB5-8C95-5A3927747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5BE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5BEA"/>
                </a:solidFill>
                <a:latin typeface="Aptos"/>
                <a:ea typeface="Aptos"/>
                <a:cs typeface="Aptos"/>
              </a:rPr>
              <a:t>ACCESS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6188C8-C9C9-4D2E-9DB0-866826C56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7810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Role clarity for the demo audience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5B0EC1-3F0F-4299-BA22-1CF3E1EA9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66850"/>
            <a:ext cx="10934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D51944-6272-4707-8AC4-3970AE6D9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811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Role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CAC13B-BEA8-4DC3-A607-99DAF3383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811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Primary responsibility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1ACC56-BC07-457A-B4FE-F5F4A596D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811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Phase 1 capability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BB1EF3-B465-40DD-91FE-BF31DF799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66900"/>
            <a:ext cx="10934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A59DDA-6477-4CC7-8BDB-D3CBCBE53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383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Super Admin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6A8CBF-2FC0-4D60-A863-C3E8DA8FF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038350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5BE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5BEA"/>
                </a:solidFill>
                <a:latin typeface="Aptos"/>
                <a:ea typeface="Aptos"/>
                <a:cs typeface="Aptos"/>
              </a:rPr>
              <a:t>Platform setup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AE64AB-F154-42DE-B105-DA898948A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9775"/>
            <a:ext cx="485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6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67A"/>
                </a:solidFill>
                <a:latin typeface="Aptos"/>
                <a:ea typeface="Aptos"/>
                <a:cs typeface="Aptos"/>
              </a:rPr>
              <a:t>Create clients and seed primary roles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267D12-85DF-4634-8562-CB82DD740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19350"/>
            <a:ext cx="10934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4A3340-A5B0-4A2E-8405-36919E1B9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Commandant Engineer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CC162C-6D6E-43E3-8AC0-DCDDF62EF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590800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5BE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5BEA"/>
                </a:solidFill>
                <a:latin typeface="Aptos"/>
                <a:ea typeface="Aptos"/>
                <a:cs typeface="Aptos"/>
              </a:rPr>
              <a:t>Client admin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AAA666-F2A0-40DB-82CF-BF7A4A90B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62225"/>
            <a:ext cx="485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6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67A"/>
                </a:solidFill>
                <a:latin typeface="Aptos"/>
                <a:ea typeface="Aptos"/>
                <a:cs typeface="Aptos"/>
              </a:rPr>
              <a:t>Manage end users, engineers, contractors, contracts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4FEC4C-EA69-4054-A219-16C88A4A0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71800"/>
            <a:ext cx="10934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4651EF-D496-42A2-87DC-29323961D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Junior / Assistant Engineer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EDDD47-D012-4407-A0D2-F9E1295DF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143250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5BE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5BEA"/>
                </a:solidFill>
                <a:latin typeface="Aptos"/>
                <a:ea typeface="Aptos"/>
                <a:cs typeface="Aptos"/>
              </a:rPr>
              <a:t>Approval queue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F9CF04-80BC-4686-8ED5-0ED1EE573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14675"/>
            <a:ext cx="485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6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67A"/>
                </a:solidFill>
                <a:latin typeface="Aptos"/>
                <a:ea typeface="Aptos"/>
                <a:cs typeface="Aptos"/>
              </a:rPr>
              <a:t>Approve or reject requests in the time-based stage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E06A30-96FC-448C-8358-E884CD49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24250"/>
            <a:ext cx="10934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AC5608-E5F5-4523-89EB-DAFD6B3AA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9570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Contractor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440C70-87B2-40D9-BD01-0E09ED117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695700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5BE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5BEA"/>
                </a:solidFill>
                <a:latin typeface="Aptos"/>
                <a:ea typeface="Aptos"/>
                <a:cs typeface="Aptos"/>
              </a:rPr>
              <a:t>Execution owner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02523B-4EF5-4692-BBD1-1163FFE87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67125"/>
            <a:ext cx="485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6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67A"/>
                </a:solidFill>
                <a:latin typeface="Aptos"/>
                <a:ea typeface="Aptos"/>
                <a:cs typeface="Aptos"/>
              </a:rPr>
              <a:t>Assign supervisor and workman to approved requests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85BFED-A321-4C45-B8BE-45704E17C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76700"/>
            <a:ext cx="10934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E3E117-FC86-4BAC-A4B0-4B6F518CF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481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Supervisor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42EAEF-6212-45B8-9F92-CE6D9E954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248150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5BE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5BEA"/>
                </a:solidFill>
                <a:latin typeface="Aptos"/>
                <a:ea typeface="Aptos"/>
                <a:cs typeface="Aptos"/>
              </a:rPr>
              <a:t>Quality control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227754-E2C5-466B-B530-7A102E609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19575"/>
            <a:ext cx="485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6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67A"/>
                </a:solidFill>
                <a:latin typeface="Aptos"/>
                <a:ea typeface="Aptos"/>
                <a:cs typeface="Aptos"/>
              </a:rPr>
              <a:t>Approve QC or send work back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E7948F-715C-4C22-85AF-6B310E79B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29150"/>
            <a:ext cx="10934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4D7CA5D-D45A-4CBB-91E6-785E84771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0060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Workman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E7F8C04-5AB3-4577-8B6E-DD409EEE7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800600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5BE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5BEA"/>
                </a:solidFill>
                <a:latin typeface="Aptos"/>
                <a:ea typeface="Aptos"/>
                <a:cs typeface="Aptos"/>
              </a:rPr>
              <a:t>Field execution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21A51B-F9E8-4242-8F8A-C2787D5AF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72025"/>
            <a:ext cx="485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6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67A"/>
                </a:solidFill>
                <a:latin typeface="Aptos"/>
                <a:ea typeface="Aptos"/>
                <a:cs typeface="Aptos"/>
              </a:rPr>
              <a:t>Start work and submit completion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18710F4-F76B-4C23-A840-4C5B9E067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81600"/>
            <a:ext cx="10934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4EF7B15-753C-4DEC-A3DD-C97B0C78C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530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End User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28660A4-FC99-4C23-A1B0-7F8CDC0E9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353050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5BE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5BEA"/>
                </a:solidFill>
                <a:latin typeface="Aptos"/>
                <a:ea typeface="Aptos"/>
                <a:cs typeface="Aptos"/>
              </a:rPr>
              <a:t>Requester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14169F0-811C-4CCA-BEAB-D878C7305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324475"/>
            <a:ext cx="485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6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67A"/>
                </a:solidFill>
                <a:latin typeface="Aptos"/>
                <a:ea typeface="Aptos"/>
                <a:cs typeface="Aptos"/>
              </a:rPr>
              <a:t>OTP login, raise requests, approve own completed work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4C3DEB7-0C6B-4DFD-9BCB-871DEEF1B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9829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98296"/>
                </a:solidFill>
                <a:latin typeface="Aptos"/>
                <a:ea typeface="Aptos"/>
                <a:cs typeface="Aptos"/>
              </a:rPr>
              <a:t>ServTrack Phase 1 demo | 03</a:t>
            </a:r>
          </a:p>
        </p:txBody>
      </p:sp>
    </p:spTree>
    <p:extLst>
      <p:ext uri="{BB962C8B-B14F-4D97-AF65-F5344CB8AC3E}">
        <p14:creationId xmlns:p14="http://schemas.microsoft.com/office/powerpoint/2010/main" val="88704202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1B338A0-B3D7-423E-B38E-C0D21D278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22F5C1-1CCA-4715-A1AB-FA609C1B9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5BE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5BEA"/>
                </a:solidFill>
                <a:latin typeface="Aptos"/>
                <a:ea typeface="Aptos"/>
                <a:cs typeface="Aptos"/>
              </a:rPr>
              <a:t>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C8ED0C-7915-4458-B310-61FFFBBD2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7810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Service request flow now follows the real handoffs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F65326-D102-4F76-AB74-E98CD2C45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12001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A99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0DE5EF-F508-4D37-ABD5-FDAA591E8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38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999"/>
          </a:solidFill>
          <a:ln xmlns:a="http://schemas.openxmlformats.org/drawingml/2006/main" w="0">
            <a:solidFill>
              <a:srgbClr val="18A99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A4098F-B82F-4DF4-AE12-06E67F850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133600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DC6A92-C529-4F80-B2C9-FC4F89946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33650"/>
            <a:ext cx="933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End user creates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C56472-3FD5-42DB-9813-F41BC2353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0375"/>
            <a:ext cx="12763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A99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048A44-E00C-4AA4-8DCB-41B92A123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05150"/>
            <a:ext cx="1085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8A99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8A999"/>
                </a:solidFill>
                <a:latin typeface="Aptos"/>
                <a:ea typeface="Aptos"/>
                <a:cs typeface="Aptos"/>
              </a:rPr>
              <a:t>open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084A22-A2B5-4D68-837B-F07BB2A1E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838450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solidFill>
              <a:srgbClr val="D9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E612CD-1BE0-42B6-93C4-CAA28D81A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266950"/>
            <a:ext cx="12001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F5B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D620DD-4AE3-4ECA-9CE2-CFF60E05A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038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BEA"/>
          </a:solidFill>
          <a:ln xmlns:a="http://schemas.openxmlformats.org/drawingml/2006/main" w="0">
            <a:solidFill>
              <a:srgbClr val="2F5B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B7FB8F-D5D6-4B15-BD39-651C24DF7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133600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C93E11-4F3B-4766-8592-629C13AA2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533650"/>
            <a:ext cx="933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Engineer approves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39DA14-712F-471C-A427-5ABABFEFD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000375"/>
            <a:ext cx="12763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F5B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BCF115-094F-4264-9324-FC5858D0F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105150"/>
            <a:ext cx="1085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F5BE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5BEA"/>
                </a:solidFill>
                <a:latin typeface="Aptos"/>
                <a:ea typeface="Aptos"/>
                <a:cs typeface="Aptos"/>
              </a:rPr>
              <a:t>assigned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7E2CEA-45AF-4412-8EEF-1177B5CD2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838450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solidFill>
              <a:srgbClr val="D9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F24E82-C614-496B-9D15-9F45523B3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266950"/>
            <a:ext cx="12001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0A20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7885E0-FAFF-476D-81C7-8995C941B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38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A202"/>
          </a:solidFill>
          <a:ln xmlns:a="http://schemas.openxmlformats.org/drawingml/2006/main" w="0">
            <a:solidFill>
              <a:srgbClr val="F0A20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C30186-E7B9-415C-A585-659A6B1EC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133600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4DAF90-DDEE-483C-9B7E-38679A6AF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533650"/>
            <a:ext cx="933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Contractor assigns team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E07DCB-AC8D-404C-ADCA-8675E0F6F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000375"/>
            <a:ext cx="12763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0A20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117F08-481D-49CB-A24A-2340F9A38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105150"/>
            <a:ext cx="1085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0A20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0A202"/>
                </a:solidFill>
                <a:latin typeface="Aptos"/>
                <a:ea typeface="Aptos"/>
                <a:cs typeface="Aptos"/>
              </a:rPr>
              <a:t>assigned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C449FD-E32A-4A5E-BFA8-D792F01E3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838450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solidFill>
              <a:srgbClr val="D9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F09414-66D6-4F6E-8ECF-D5BD56CE9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66950"/>
            <a:ext cx="12001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4E4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05DED5-5561-49F3-A00F-9E055A660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038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E4E"/>
          </a:solidFill>
          <a:ln xmlns:a="http://schemas.openxmlformats.org/drawingml/2006/main" w="0">
            <a:solidFill>
              <a:srgbClr val="D94E4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B5AB76-630C-4115-990B-680AB35E9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133600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53BC6A-C583-47F3-8589-4E647E76E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533650"/>
            <a:ext cx="933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Workman starts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8791EA-1D5B-4E02-8E45-57957EA03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000375"/>
            <a:ext cx="12763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4E4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B9CDA0-D094-4A26-AB13-470BBDA38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105150"/>
            <a:ext cx="1085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94E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94E4E"/>
                </a:solidFill>
                <a:latin typeface="Aptos"/>
                <a:ea typeface="Aptos"/>
                <a:cs typeface="Aptos"/>
              </a:rPr>
              <a:t>in progress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B7BA846-F4CE-4F87-B4A3-9EE6F4191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38450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solidFill>
              <a:srgbClr val="D9DEE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2D49CD4-CF1C-43B1-ABA6-63B0557A3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66950"/>
            <a:ext cx="12001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4E4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FA674AB-DDA6-4683-BF73-14F654A49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038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E4E"/>
          </a:solidFill>
          <a:ln xmlns:a="http://schemas.openxmlformats.org/drawingml/2006/main" w="0">
            <a:solidFill>
              <a:srgbClr val="D94E4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00F85FD-2078-423E-923F-EA50A161D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133600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171703E-2646-43B6-83DD-A0C4E9493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533650"/>
            <a:ext cx="933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Workman submits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E9EE4A4-2C53-4261-B68F-FBBEB4C56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000375"/>
            <a:ext cx="12763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4E4E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CE52030-1450-4AC8-A09A-FA1EA6B25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105150"/>
            <a:ext cx="1085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94E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94E4E"/>
                </a:solidFill>
                <a:latin typeface="Aptos"/>
                <a:ea typeface="Aptos"/>
                <a:cs typeface="Aptos"/>
              </a:rPr>
              <a:t>qc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EFF3C90-56D8-4AFC-99E4-3C423B849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38450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solidFill>
              <a:srgbClr val="D9DEE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05F710B-1752-4350-8FA3-3537B8ED4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266950"/>
            <a:ext cx="12001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F5BE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CEFD5DF-B9FB-4101-B893-E85920521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038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BEA"/>
          </a:solidFill>
          <a:ln xmlns:a="http://schemas.openxmlformats.org/drawingml/2006/main" w="0">
            <a:solidFill>
              <a:srgbClr val="2F5BE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C696D63-0DF6-4405-84DE-B25F261CB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133600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B976E83-E7F5-4596-9BF0-35C4121B6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533650"/>
            <a:ext cx="933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Supervisor passes QC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38E9086-DD5C-4D52-8199-FE3BF791E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000375"/>
            <a:ext cx="12763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F5BE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E200AC0-31A9-4E4D-9F11-6350C9706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105150"/>
            <a:ext cx="1085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F5BE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5BEA"/>
                </a:solidFill>
                <a:latin typeface="Aptos"/>
                <a:ea typeface="Aptos"/>
                <a:cs typeface="Aptos"/>
              </a:rPr>
              <a:t>pending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F953C85-A0E2-4583-9915-7118B4868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838450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solidFill>
              <a:srgbClr val="D9DEE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1A6C655-0B0B-4C2F-A015-125A993E2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266950"/>
            <a:ext cx="12001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A999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923BA72-9A15-40E4-BE4E-7AAA7B6E5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038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999"/>
          </a:solidFill>
          <a:ln xmlns:a="http://schemas.openxmlformats.org/drawingml/2006/main" w="0">
            <a:solidFill>
              <a:srgbClr val="18A999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A328443-62A3-40FE-A135-5A4CC6143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2133600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6E2C192-27FA-478C-8B46-9D621DBAB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533650"/>
            <a:ext cx="933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Requester approves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689F77E-3A57-49F4-9873-1F88A6E02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000375"/>
            <a:ext cx="12763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A999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B29DD66-442A-4E81-A585-E213520B1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105150"/>
            <a:ext cx="1085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8A99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8A999"/>
                </a:solidFill>
                <a:latin typeface="Aptos"/>
                <a:ea typeface="Aptos"/>
                <a:cs typeface="Aptos"/>
              </a:rPr>
              <a:t>closed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CE7CDDA-9CF2-4AB4-919E-2AAB1522D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457700"/>
            <a:ext cx="91059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CFDF8"/>
          </a:solidFill>
          <a:ln xmlns:a="http://schemas.openxmlformats.org/drawingml/2006/main" w="9525">
            <a:solidFill>
              <a:srgbClr val="BFEBDD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211EEC1-BBD8-49DB-BDDC-22DE4FEDC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291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A99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8A999"/>
                </a:solidFill>
                <a:latin typeface="Aptos"/>
                <a:ea typeface="Aptos"/>
                <a:cs typeface="Aptos"/>
              </a:rPr>
              <a:t>Verified flow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0A8F0AC-B55A-4524-80FF-A2CFDF6FE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610100"/>
            <a:ext cx="6877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For end-user-raised requests, the final close action belongs to the requester after supervisor QC. Client users are blocked from closing that pending approval.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1A8E262-3321-4617-A686-C2EF2C6B3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9829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98296"/>
                </a:solidFill>
                <a:latin typeface="Aptos"/>
                <a:ea typeface="Aptos"/>
                <a:cs typeface="Aptos"/>
              </a:rPr>
              <a:t>ServTrack Phase 1 demo | 04</a:t>
            </a:r>
          </a:p>
        </p:txBody>
      </p:sp>
    </p:spTree>
    <p:extLst>
      <p:ext uri="{BB962C8B-B14F-4D97-AF65-F5344CB8AC3E}">
        <p14:creationId xmlns:p14="http://schemas.microsoft.com/office/powerpoint/2010/main" val="133154250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9310A9A-2254-4F4A-B5EB-FD687993A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2C7F23-1970-4507-B8F1-62D60C514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5BE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5BEA"/>
                </a:solidFill>
                <a:latin typeface="Aptos"/>
                <a:ea typeface="Aptos"/>
                <a:cs typeface="Aptos"/>
              </a:rPr>
              <a:t>REQUESTER APPROVAL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541A21-844D-4E2C-8290-8518DF39A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7810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The approval owner changes based on who raised the request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5AD041-D4A2-4E77-B2CE-0253C4021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524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2F5BEA"/>
          </a:solidFill>
          <a:ln xmlns:a="http://schemas.openxmlformats.org/drawingml/2006/main" w="0">
            <a:solidFill>
              <a:srgbClr val="2F5B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09101F-8F4C-4F7B-B844-656EF49D7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219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Client-raised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3E46DC-F3E8-40B9-8553-564D0D6DD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19075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solidFill>
              <a:srgbClr val="D9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A3EC32-0754-485C-9E46-529B7A8F6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7100"/>
            <a:ext cx="1524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8A999"/>
          </a:solidFill>
          <a:ln xmlns:a="http://schemas.openxmlformats.org/drawingml/2006/main" w="0">
            <a:solidFill>
              <a:srgbClr val="18A99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D68CA8-86B9-4D49-A1F2-E7C5251BB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1219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End-user-raised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02E13A-D640-422E-BFCF-1F22819DA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71475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solidFill>
              <a:srgbClr val="D9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5A96C3-85F9-4736-87A7-749677B59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009775"/>
            <a:ext cx="12763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5D667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56B8CC-6827-4EBC-B5D6-D29764C0F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114550"/>
            <a:ext cx="1085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D66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67A"/>
                </a:solidFill>
                <a:latin typeface="Aptos"/>
                <a:ea typeface="Aptos"/>
                <a:cs typeface="Aptos"/>
              </a:rPr>
              <a:t>open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A3C1C6-BE04-4770-BA52-9CBB5077D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533775"/>
            <a:ext cx="12763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5D667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295E55-4363-456A-A360-ED09FD71B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638550"/>
            <a:ext cx="1085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D66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67A"/>
                </a:solidFill>
                <a:latin typeface="Aptos"/>
                <a:ea typeface="Aptos"/>
                <a:cs typeface="Aptos"/>
              </a:rPr>
              <a:t>open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459522-7BF4-4613-B308-71820CBFD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09775"/>
            <a:ext cx="12763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5D667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5B999B-910D-4FB5-82B5-68C6B1570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114550"/>
            <a:ext cx="1085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D66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67A"/>
                </a:solidFill>
                <a:latin typeface="Aptos"/>
                <a:ea typeface="Aptos"/>
                <a:cs typeface="Aptos"/>
              </a:rPr>
              <a:t>assigned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05BDB0-623C-48B0-AFA3-BEAD6F268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533775"/>
            <a:ext cx="12763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5D667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E0884B-1FD8-458E-9555-5A96D2E29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38550"/>
            <a:ext cx="1085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D66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67A"/>
                </a:solidFill>
                <a:latin typeface="Aptos"/>
                <a:ea typeface="Aptos"/>
                <a:cs typeface="Aptos"/>
              </a:rPr>
              <a:t>assigned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F5F547-AD11-4D16-A58A-C9958921A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009775"/>
            <a:ext cx="12763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5D667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11E570-D2F8-44CD-AA04-37B3B3501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114550"/>
            <a:ext cx="1085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D66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67A"/>
                </a:solidFill>
                <a:latin typeface="Aptos"/>
                <a:ea typeface="Aptos"/>
                <a:cs typeface="Aptos"/>
              </a:rPr>
              <a:t>in progress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AB64A9-DAA1-4F45-BDDB-280DA5AF0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533775"/>
            <a:ext cx="12763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5D667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93F052-1961-432E-9C4C-7A0EA2775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38550"/>
            <a:ext cx="1085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D66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67A"/>
                </a:solidFill>
                <a:latin typeface="Aptos"/>
                <a:ea typeface="Aptos"/>
                <a:cs typeface="Aptos"/>
              </a:rPr>
              <a:t>in progress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42743C-8782-46AB-A86A-0EF4F737D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09775"/>
            <a:ext cx="12763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5D667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2376E6-1F30-4D2B-9C0F-10440BFF1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14550"/>
            <a:ext cx="1085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D66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67A"/>
                </a:solidFill>
                <a:latin typeface="Aptos"/>
                <a:ea typeface="Aptos"/>
                <a:cs typeface="Aptos"/>
              </a:rPr>
              <a:t>qc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60C596-71B4-466D-B08E-4C186F0A5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33775"/>
            <a:ext cx="12763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5D667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A4E2E3-7A52-4093-9082-9CEF4100C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38550"/>
            <a:ext cx="1085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D66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67A"/>
                </a:solidFill>
                <a:latin typeface="Aptos"/>
                <a:ea typeface="Aptos"/>
                <a:cs typeface="Aptos"/>
              </a:rPr>
              <a:t>qc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2AD8CA-9C42-4278-ABB9-921910D2B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09775"/>
            <a:ext cx="12763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F5B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FC1EE1-D13B-4E42-87EF-33539F4FD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14550"/>
            <a:ext cx="1085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F5BE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5BEA"/>
                </a:solidFill>
                <a:latin typeface="Aptos"/>
                <a:ea typeface="Aptos"/>
                <a:cs typeface="Aptos"/>
              </a:rPr>
              <a:t>pending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28C8D82-A089-417D-AE23-5696FAC39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33775"/>
            <a:ext cx="12763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A99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8A6422-B5CD-430D-8274-AA366EFE7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38550"/>
            <a:ext cx="1085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8A99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8A999"/>
                </a:solidFill>
                <a:latin typeface="Aptos"/>
                <a:ea typeface="Aptos"/>
                <a:cs typeface="Aptos"/>
              </a:rPr>
              <a:t>pending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1313AC5-541B-4F86-8484-527E4D58E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09775"/>
            <a:ext cx="12763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F5BE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F4EA221-51C0-4A3B-8EC4-99B658A8D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114550"/>
            <a:ext cx="1085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F5BE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5BEA"/>
                </a:solidFill>
                <a:latin typeface="Aptos"/>
                <a:ea typeface="Aptos"/>
                <a:cs typeface="Aptos"/>
              </a:rPr>
              <a:t>closed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7230CA-6A64-4A26-909E-D2ADCB827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533775"/>
            <a:ext cx="12763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A99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C920A32-1D59-4954-8FDD-3401674DD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638550"/>
            <a:ext cx="1085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8A99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8A999"/>
                </a:solidFill>
                <a:latin typeface="Aptos"/>
                <a:ea typeface="Aptos"/>
                <a:cs typeface="Aptos"/>
              </a:rPr>
              <a:t>closed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35C3537-EE20-4A7A-8083-6C6A74636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333500"/>
            <a:ext cx="16002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CE6FF"/>
          </a:solidFill>
          <a:ln xmlns:a="http://schemas.openxmlformats.org/drawingml/2006/main" w="14288">
            <a:solidFill>
              <a:srgbClr val="2F5BE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B9B14A0-9B99-4F1F-ACCC-7BD2E3BF8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466850"/>
            <a:ext cx="11239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5BE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5BEA"/>
                </a:solidFill>
                <a:latin typeface="Aptos"/>
                <a:ea typeface="Aptos"/>
                <a:cs typeface="Aptos"/>
              </a:rPr>
              <a:t>Client approves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C71C406-DD2A-497F-BE1C-1F8D39BAD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4953000"/>
            <a:ext cx="1809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DF7F0"/>
          </a:solidFill>
          <a:ln xmlns:a="http://schemas.openxmlformats.org/drawingml/2006/main" w="14288">
            <a:solidFill>
              <a:srgbClr val="18A99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E200E52-2314-4451-AE34-664C0AF2E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086350"/>
            <a:ext cx="13335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A99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8A999"/>
                </a:solidFill>
                <a:latin typeface="Aptos"/>
                <a:ea typeface="Aptos"/>
                <a:cs typeface="Aptos"/>
              </a:rPr>
              <a:t>End user approves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FB84EEE-F699-44E2-BD7F-1AE246093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505450"/>
            <a:ext cx="4381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6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67A"/>
                </a:solidFill>
                <a:latin typeface="Aptos"/>
                <a:ea typeface="Aptos"/>
                <a:cs typeface="Aptos"/>
              </a:rPr>
              <a:t>Supervisor QC does not close the request; it moves work to pending approval.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4664DD2-56F0-4C83-8B61-206BF4BEB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505450"/>
            <a:ext cx="3905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6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67A"/>
                </a:solidFill>
                <a:latin typeface="Aptos"/>
                <a:ea typeface="Aptos"/>
                <a:cs typeface="Aptos"/>
              </a:rPr>
              <a:t>This avoids the confusing pattern where the client approves work the requester never accepted.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AC0E156-4182-4BAD-8C79-B8BEDB9B0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9829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98296"/>
                </a:solidFill>
                <a:latin typeface="Aptos"/>
                <a:ea typeface="Aptos"/>
                <a:cs typeface="Aptos"/>
              </a:rPr>
              <a:t>ServTrack Phase 1 demo | 05</a:t>
            </a:r>
          </a:p>
        </p:txBody>
      </p:sp>
    </p:spTree>
    <p:extLst>
      <p:ext uri="{BB962C8B-B14F-4D97-AF65-F5344CB8AC3E}">
        <p14:creationId xmlns:p14="http://schemas.microsoft.com/office/powerpoint/2010/main" val="137605640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5663085-3470-4EE9-98F9-CDAEB896F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BA3CD9-A32A-4C71-829D-5E7CAE779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5BE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5BEA"/>
                </a:solidFill>
                <a:latin typeface="Aptos"/>
                <a:ea typeface="Aptos"/>
                <a:cs typeface="Aptos"/>
              </a:rPr>
              <a:t>DATA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EE1B82-406E-4419-B37C-5097D28BC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7810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Tenant scoping and normalized relationships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772C68-1F62-419E-BB17-8D55972DD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62150"/>
            <a:ext cx="23812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BC80F9-8672-4669-8C7B-F30DF374E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6215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BEA"/>
          </a:solidFill>
          <a:ln xmlns:a="http://schemas.openxmlformats.org/drawingml/2006/main" w="0">
            <a:solidFill>
              <a:srgbClr val="2F5B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26385E-2F44-4C62-8C2D-AD5BB7C6B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33600"/>
            <a:ext cx="1981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clients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0588FC-F0C6-4C13-AA4F-3B3D71D99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1981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6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67A"/>
                </a:solidFill>
                <a:latin typeface="Aptos"/>
                <a:ea typeface="Aptos"/>
                <a:cs typeface="Aptos"/>
              </a:rPr>
              <a:t>Own the facility account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031872-E34B-4E6F-B634-6AA41FCE8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962150"/>
            <a:ext cx="23812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F8B04E-4006-4A3D-8128-40996F267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96215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999"/>
          </a:solidFill>
          <a:ln xmlns:a="http://schemas.openxmlformats.org/drawingml/2006/main" w="0">
            <a:solidFill>
              <a:srgbClr val="18A99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1C97AC-6D01-4C62-AD9E-3F445D696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33600"/>
            <a:ext cx="1981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users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6602C1-128B-4FC7-B8BB-E2D28978B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76500"/>
            <a:ext cx="1981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6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67A"/>
                </a:solidFill>
                <a:latin typeface="Aptos"/>
                <a:ea typeface="Aptos"/>
                <a:cs typeface="Aptos"/>
              </a:rPr>
              <a:t>Role + client/contractor scope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CAF893-DF77-46F8-8049-BB9E76727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62150"/>
            <a:ext cx="23812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9F5C2A-10B9-4120-AA21-B4D2C9CCA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6215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A202"/>
          </a:solidFill>
          <a:ln xmlns:a="http://schemas.openxmlformats.org/drawingml/2006/main" w="0">
            <a:solidFill>
              <a:srgbClr val="F0A20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25C85A-ABE1-431C-8C9B-FA055D48E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33600"/>
            <a:ext cx="1981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contractors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137597-0E8A-4972-B060-9331F6723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76500"/>
            <a:ext cx="1981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6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67A"/>
                </a:solidFill>
                <a:latin typeface="Aptos"/>
                <a:ea typeface="Aptos"/>
                <a:cs typeface="Aptos"/>
              </a:rPr>
              <a:t>Service company profile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045023-04F5-43DB-8006-F20C36E71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771900"/>
            <a:ext cx="23812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11E7CB-8A82-4A24-B846-6F09783E5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77190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A202"/>
          </a:solidFill>
          <a:ln xmlns:a="http://schemas.openxmlformats.org/drawingml/2006/main" w="0">
            <a:solidFill>
              <a:srgbClr val="F0A20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82D5E9-9914-4CAA-A63A-EBF935CA4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43350"/>
            <a:ext cx="1981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contracts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3032C9-A755-454D-8EF8-5A2AFDC2D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86250"/>
            <a:ext cx="1981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6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67A"/>
                </a:solidFill>
                <a:latin typeface="Aptos"/>
                <a:ea typeface="Aptos"/>
                <a:cs typeface="Aptos"/>
              </a:rPr>
              <a:t>client_id + contractor_id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EFBED7-D804-4C2A-AEF2-68F6F646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771900"/>
            <a:ext cx="23812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58BAE8-36E8-4743-B5E8-BF6DC7E9F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77190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BEA"/>
          </a:solidFill>
          <a:ln xmlns:a="http://schemas.openxmlformats.org/drawingml/2006/main" w="0">
            <a:solidFill>
              <a:srgbClr val="2F5B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E15F76-E564-46D1-B2BE-B931B703E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943350"/>
            <a:ext cx="1981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client_contractor_links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A62177-6DED-475C-88F4-5725762AC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86250"/>
            <a:ext cx="1981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6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67A"/>
                </a:solidFill>
                <a:latin typeface="Aptos"/>
                <a:ea typeface="Aptos"/>
                <a:cs typeface="Aptos"/>
              </a:rPr>
              <a:t>Active client-contractor access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C36FCB-0B0A-4A22-837B-5243CD4D0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71900"/>
            <a:ext cx="23812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3F303C-E9BC-4FE3-B937-C42021330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7190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E4E"/>
          </a:solidFill>
          <a:ln xmlns:a="http://schemas.openxmlformats.org/drawingml/2006/main" w="0">
            <a:solidFill>
              <a:srgbClr val="D94E4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5D2392-614B-48B8-85B2-791DBA476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43350"/>
            <a:ext cx="1981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work_orders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2CDF35-1D48-44C6-807F-DEFF19205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86250"/>
            <a:ext cx="1981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6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67A"/>
                </a:solidFill>
                <a:latin typeface="Aptos"/>
                <a:ea typeface="Aptos"/>
                <a:cs typeface="Aptos"/>
              </a:rPr>
              <a:t>client_id + assignments + raised_by_id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83F246-C1AB-413F-837D-DC2401B8A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514600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solidFill>
              <a:srgbClr val="D9DE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632491-59D2-43E8-98B4-C453101DA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14600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solidFill>
              <a:srgbClr val="D9DEE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F7CBAF1-DD94-4AEA-A8F3-36992F56D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067050"/>
            <a:ext cx="190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solidFill>
              <a:srgbClr val="D9DE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53A9B67-7972-4AE3-931F-3FECB4607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3243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solidFill>
              <a:srgbClr val="D9DEE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8E5D1BF-9582-40FA-BC53-19C2A07D5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3243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solidFill>
              <a:srgbClr val="D9DE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6854B62-94C9-4330-8EC3-7BAD2AE91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37719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solidFill>
              <a:srgbClr val="D9DEE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D6ECBDB-7544-4359-AB86-2A98D6485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238375"/>
            <a:ext cx="1790700" cy="23622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1CE2EC2-0399-4839-A237-7614C794D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457450"/>
            <a:ext cx="123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Fix included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196AE69-5CF7-439F-B2E1-BDC478C95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933700"/>
            <a:ext cx="1333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6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67A"/>
                </a:solidFill>
                <a:latin typeface="Aptos"/>
                <a:ea typeface="Aptos"/>
                <a:cs typeface="Aptos"/>
              </a:rPr>
              <a:t>Contracts now carry client_id. A contractor reused by two clients no longer leaks all contracts into one client's contracts page.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AF3CEAF-F746-4F82-9CA7-6510D4A27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095750"/>
            <a:ext cx="133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5BE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5BEA"/>
                </a:solidFill>
                <a:latin typeface="Aptos"/>
                <a:ea typeface="Aptos"/>
                <a:cs typeface="Aptos"/>
              </a:rPr>
              <a:t>Indexes added for client + contractor and client + status lookup.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1AAF8D4-C970-4ED6-8872-22C731643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9829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98296"/>
                </a:solidFill>
                <a:latin typeface="Aptos"/>
                <a:ea typeface="Aptos"/>
                <a:cs typeface="Aptos"/>
              </a:rPr>
              <a:t>ServTrack Phase 1 demo | 06</a:t>
            </a:r>
          </a:p>
        </p:txBody>
      </p:sp>
    </p:spTree>
    <p:extLst>
      <p:ext uri="{BB962C8B-B14F-4D97-AF65-F5344CB8AC3E}">
        <p14:creationId xmlns:p14="http://schemas.microsoft.com/office/powerpoint/2010/main" val="166567577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0DA3010-BF82-4573-B609-CE0831DB3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3F16FE-DE00-4761-BF68-C3E953E7B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2450"/>
            <a:ext cx="838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End-user PII is encrypted at field level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3F32A0-FC63-46AC-8F2D-06DA2DFDF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EA7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EA7FF"/>
                </a:solidFill>
                <a:latin typeface="Aptos"/>
                <a:ea typeface="Aptos"/>
                <a:cs typeface="Aptos"/>
              </a:rPr>
              <a:t>Security implementation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34131B-853A-4E98-B363-0D725864C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20955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1D293B"/>
          </a:solidFill>
          <a:ln xmlns:a="http://schemas.openxmlformats.org/drawingml/2006/main" w="14288">
            <a:solidFill>
              <a:srgbClr val="2F5B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148AC8-607E-441A-B3A5-DBA7D9E79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812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Plain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1594DE-311A-4761-A7E7-B0358AF04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00300"/>
            <a:ext cx="16668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D0D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0DE"/>
                </a:solidFill>
                <a:latin typeface="Aptos"/>
                <a:ea typeface="Aptos"/>
                <a:cs typeface="Aptos"/>
              </a:rPr>
              <a:t>name, email, phone, address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1E8FA7-76AA-4370-8996-DD5BF0BC2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486025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647A"/>
          </a:solidFill>
          <a:ln xmlns:a="http://schemas.openxmlformats.org/drawingml/2006/main" w="0">
            <a:solidFill>
              <a:srgbClr val="58647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E5B563-5323-45FD-8A8E-2B8D20EBF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752600"/>
            <a:ext cx="20955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1D293B"/>
          </a:solidFill>
          <a:ln xmlns:a="http://schemas.openxmlformats.org/drawingml/2006/main" w="14288">
            <a:solidFill>
              <a:srgbClr val="18A99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CFA221-ADC2-4AF6-A4BA-F43E51ED3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9812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Encrypt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972953-680D-4C97-A716-3425B51AE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400300"/>
            <a:ext cx="16668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D0D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0DE"/>
                </a:solidFill>
                <a:latin typeface="Aptos"/>
                <a:ea typeface="Aptos"/>
                <a:cs typeface="Aptos"/>
              </a:rPr>
              <a:t>AES-256-GCM per field with versioned ciphertext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F9C4A0-E0C3-4073-9174-AD93E3681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486025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647A"/>
          </a:solidFill>
          <a:ln xmlns:a="http://schemas.openxmlformats.org/drawingml/2006/main" w="0">
            <a:solidFill>
              <a:srgbClr val="58647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C9F39B-5CD4-4BD0-8FC9-88160F70C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752600"/>
            <a:ext cx="20955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1D293B"/>
          </a:solidFill>
          <a:ln xmlns:a="http://schemas.openxmlformats.org/drawingml/2006/main" w="14288">
            <a:solidFill>
              <a:srgbClr val="F0A20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8F072A-FF37-4129-A783-07954B010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812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Search safely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3BDF4E-59E9-4B57-AAA2-542BE46F6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00300"/>
            <a:ext cx="16668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D0D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0DE"/>
                </a:solidFill>
                <a:latin typeface="Aptos"/>
                <a:ea typeface="Aptos"/>
                <a:cs typeface="Aptos"/>
              </a:rPr>
              <a:t>HMAC-SHA256 email/phone lookup hashes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69606B-FECF-4C5A-92AA-543D3B5F0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486025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647A"/>
          </a:solidFill>
          <a:ln xmlns:a="http://schemas.openxmlformats.org/drawingml/2006/main" w="0">
            <a:solidFill>
              <a:srgbClr val="58647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4C19A2-114E-43A6-9075-34622A9F0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752600"/>
            <a:ext cx="20955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1D293B"/>
          </a:solidFill>
          <a:ln xmlns:a="http://schemas.openxmlformats.org/drawingml/2006/main" w="14288">
            <a:solidFill>
              <a:srgbClr val="D94E4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542ED3-CB26-4D68-ABC6-8A88A991C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9812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Store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43C4FB-8BC7-46A3-ACAA-392C3734F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00300"/>
            <a:ext cx="16668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D0D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0DE"/>
                </a:solidFill>
                <a:latin typeface="Aptos"/>
                <a:ea typeface="Aptos"/>
                <a:cs typeface="Aptos"/>
              </a:rPr>
              <a:t>Encrypted columns + lookup hashes, never plaintext PII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16CE2A-EA78-4910-B4F3-E0BEA1863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95750"/>
            <a:ext cx="48387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30405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79216D-AAAC-401D-90AA-83E3B7351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4340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What is protected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7C7278-DCA1-4BCD-8917-529522D5B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724400"/>
            <a:ext cx="4000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8D0D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8D0DE"/>
                </a:solidFill>
                <a:latin typeface="Aptos"/>
                <a:ea typeface="Aptos"/>
                <a:cs typeface="Aptos"/>
              </a:rPr>
              <a:t>End-user name, email, phone, and address are encrypted. OTPs and passwords are hashed, not encrypted.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AE9703-C76F-4B7F-851E-BDFE7CAAC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095750"/>
            <a:ext cx="48387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30405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5A8D3C-01B0-4BEF-9531-BF60B8C76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3434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Why hashes exist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2A1871-12B8-4F94-A5BD-9B7F90EB6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724400"/>
            <a:ext cx="4000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8D0D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8D0DE"/>
                </a:solidFill>
                <a:latin typeface="Aptos"/>
                <a:ea typeface="Aptos"/>
                <a:cs typeface="Aptos"/>
              </a:rPr>
              <a:t>Encrypted values cannot be searched directly. HMAC lookup hashes let OTP login find email/phone without storing plain PII.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90D065-8AB9-4F08-8E7C-F25FEF36E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9829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98296"/>
                </a:solidFill>
                <a:latin typeface="Aptos"/>
                <a:ea typeface="Aptos"/>
                <a:cs typeface="Aptos"/>
              </a:rPr>
              <a:t>ServTrack Phase 1 demo | 07</a:t>
            </a:r>
          </a:p>
        </p:txBody>
      </p:sp>
    </p:spTree>
    <p:extLst>
      <p:ext uri="{BB962C8B-B14F-4D97-AF65-F5344CB8AC3E}">
        <p14:creationId xmlns:p14="http://schemas.microsoft.com/office/powerpoint/2010/main" val="75810053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BCBED9-5434-4A68-95B2-E759CC375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034264-A9B8-44E6-BB91-64198BE50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5BE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5BEA"/>
                </a:solidFill>
                <a:latin typeface="Aptos"/>
                <a:ea typeface="Aptos"/>
                <a:cs typeface="Aptos"/>
              </a:rPr>
              <a:t>ACCESS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7CFBD7-4CD8-4B02-B2C7-CEC402700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7810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End users use OTP instead of passwords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D6214D-37DC-41B6-AC33-D71B5A44C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90700"/>
            <a:ext cx="29527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A7146D-0D61-4656-A337-148E9500B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90700"/>
            <a:ext cx="4762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BEA"/>
          </a:solidFill>
          <a:ln xmlns:a="http://schemas.openxmlformats.org/drawingml/2006/main" w="0">
            <a:solidFill>
              <a:srgbClr val="2F5B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78CA38-AC90-436D-902E-033077A46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62150"/>
            <a:ext cx="2552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1. Admin adds end user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FAA2F2-B7BF-4279-A374-34C1855CE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05050"/>
            <a:ext cx="2552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6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67A"/>
                </a:solidFill>
                <a:latin typeface="Aptos"/>
                <a:ea typeface="Aptos"/>
                <a:cs typeface="Aptos"/>
              </a:rPr>
              <a:t>Commandant Engineer uploads or creates end-user records. PII is encrypted before storage.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25194F-5E1A-46D6-919E-FC29297DF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790700"/>
            <a:ext cx="29527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78287E-95C5-4A84-8EEB-76BD41C9E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790700"/>
            <a:ext cx="4762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999"/>
          </a:solidFill>
          <a:ln xmlns:a="http://schemas.openxmlformats.org/drawingml/2006/main" w="0">
            <a:solidFill>
              <a:srgbClr val="18A99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7DFE5A-B365-4AF1-808C-3160604F6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62150"/>
            <a:ext cx="2552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2. User requests OTP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2AAC1F-489C-429F-9BAE-D5A443C9A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05050"/>
            <a:ext cx="2552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6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67A"/>
                </a:solidFill>
                <a:latin typeface="Aptos"/>
                <a:ea typeface="Aptos"/>
                <a:cs typeface="Aptos"/>
              </a:rPr>
              <a:t>The app checks registered email or phone by lookup hash and gives a helpful message if not registered.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DD1A77-1A5B-4327-91AA-D1388A04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790700"/>
            <a:ext cx="29527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6342B7-B3C8-4E45-9576-8FC0D9449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790700"/>
            <a:ext cx="4762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A202"/>
          </a:solidFill>
          <a:ln xmlns:a="http://schemas.openxmlformats.org/drawingml/2006/main" w="0">
            <a:solidFill>
              <a:srgbClr val="F0A20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4DEA6B-0E06-4DF2-B96D-1DCDBE88F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962150"/>
            <a:ext cx="2552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3. OTP verifies identity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7B45F1-B122-4D10-962C-0241A9E02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305050"/>
            <a:ext cx="2552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6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67A"/>
                </a:solidFill>
                <a:latin typeface="Aptos"/>
                <a:ea typeface="Aptos"/>
                <a:cs typeface="Aptos"/>
              </a:rPr>
              <a:t>Email/local development OTP works today; Twilio Verify hooks are ready for phone OTP setup.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26C427-5E89-4B39-8D4E-66A9AFA15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243840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solidFill>
              <a:srgbClr val="D9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A026B1-E196-4642-9F98-19CFC95A9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43840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solidFill>
              <a:srgbClr val="D9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EF0B72-2C02-49B2-B33B-682801B0E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019550"/>
            <a:ext cx="88011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7DF"/>
          </a:solidFill>
          <a:ln xmlns:a="http://schemas.openxmlformats.org/drawingml/2006/main" w="9525">
            <a:solidFill>
              <a:srgbClr val="F1D78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17AEB5-5A02-41C6-8FFC-668D1D5D3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2481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4620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946200"/>
                </a:solidFill>
                <a:latin typeface="Aptos"/>
                <a:ea typeface="Aptos"/>
                <a:cs typeface="Aptos"/>
              </a:rPr>
              <a:t>Demo note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250F75-905D-4180-AB27-E692FF180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29100"/>
            <a:ext cx="6858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If a phone number is not allowed by the Twilio trial account, the app no longer throws a 503 in development. It returns a friendly fallback path.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203A42-4F42-4FAE-BA53-630CD4E10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9829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98296"/>
                </a:solidFill>
                <a:latin typeface="Aptos"/>
                <a:ea typeface="Aptos"/>
                <a:cs typeface="Aptos"/>
              </a:rPr>
              <a:t>ServTrack Phase 1 demo | 08</a:t>
            </a:r>
          </a:p>
        </p:txBody>
      </p:sp>
    </p:spTree>
    <p:extLst>
      <p:ext uri="{BB962C8B-B14F-4D97-AF65-F5344CB8AC3E}">
        <p14:creationId xmlns:p14="http://schemas.microsoft.com/office/powerpoint/2010/main" val="189406834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CA53ECD-1D5F-4FB4-A949-A5CE9DAF3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821FB9-8410-4164-9E8C-9F653E855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5BE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5BEA"/>
                </a:solidFill>
                <a:latin typeface="Aptos"/>
                <a:ea typeface="Aptos"/>
                <a:cs typeface="Aptos"/>
              </a:rPr>
              <a:t>PRESENTER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D141BA-F511-44AF-9CC7-C71C4A2B8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7810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Live demo storyboard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C9C808-E3E0-4001-BD66-D2893D349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BEA"/>
          </a:solidFill>
          <a:ln xmlns:a="http://schemas.openxmlformats.org/drawingml/2006/main" w="0">
            <a:solidFill>
              <a:srgbClr val="2F5B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AE5871-D179-4E12-B2DB-E3F85F9C8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097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C2606E-C62D-4CA8-9109-C1AFCD75C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5240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Home + role login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9F0180-39E6-4FFF-86EB-185755527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79070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6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67A"/>
                </a:solidFill>
                <a:latin typeface="Aptos"/>
                <a:ea typeface="Aptos"/>
                <a:cs typeface="Aptos"/>
              </a:rPr>
              <a:t>Show the new home page and login as Commandant Engineer.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BFA7B0-E962-4C7D-A823-13ED05A0E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BEA"/>
          </a:solidFill>
          <a:ln xmlns:a="http://schemas.openxmlformats.org/drawingml/2006/main" w="0">
            <a:solidFill>
              <a:srgbClr val="2F5B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9F53B1-00B3-4F94-99D0-06CEDA19B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907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0861AF-F267-4008-9B07-E18A9B308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050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Create request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D38FF4-FC98-4E61-AB29-AC6F7A622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7175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6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67A"/>
                </a:solidFill>
                <a:latin typeface="Aptos"/>
                <a:ea typeface="Aptos"/>
                <a:cs typeface="Aptos"/>
              </a:rPr>
              <a:t>Log in as an end user through OTP and raise a service request.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CB59AF-490C-4C5D-8FA1-6BDEB6A38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BEA"/>
          </a:solidFill>
          <a:ln xmlns:a="http://schemas.openxmlformats.org/drawingml/2006/main" w="0">
            <a:solidFill>
              <a:srgbClr val="2F5B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2A4A15-4FFB-4983-B2C0-93DDC7422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718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D42B72-21C5-4CB9-AF4F-6842B2D14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861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Approve + assign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A59748-97AC-4D60-B7CD-7F272DB55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5280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6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67A"/>
                </a:solidFill>
                <a:latin typeface="Aptos"/>
                <a:ea typeface="Aptos"/>
                <a:cs typeface="Aptos"/>
              </a:rPr>
              <a:t>Junior Engineer approves and assigns a contractor; modal closes after success.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736F3E-E6AF-4113-B22C-802EF8B2F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BEA"/>
          </a:solidFill>
          <a:ln xmlns:a="http://schemas.openxmlformats.org/drawingml/2006/main" w="0">
            <a:solidFill>
              <a:srgbClr val="2F5B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73BE95-EEF5-434C-97F6-B38F05BED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528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94725A-0A9E-4F93-8D81-4B22FC1DB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671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Execute + QC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A5A1C2-EB9B-4A4A-87F8-4A3239B49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13385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6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67A"/>
                </a:solidFill>
                <a:latin typeface="Aptos"/>
                <a:ea typeface="Aptos"/>
                <a:cs typeface="Aptos"/>
              </a:rPr>
              <a:t>Contractor assigns team, workman starts/completes, supervisor passes QC.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F0E141-BB89-4DF9-B77A-F1D5D1872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BEA"/>
          </a:solidFill>
          <a:ln xmlns:a="http://schemas.openxmlformats.org/drawingml/2006/main" w="0">
            <a:solidFill>
              <a:srgbClr val="2F5B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0DC09D-65DB-4EA7-A8E0-83170810E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339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8E26CF-DD17-4211-86E6-BF363C233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482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Requester approval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E7375E-D801-4D32-A082-77D0A060C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91490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6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67A"/>
                </a:solidFill>
                <a:latin typeface="Aptos"/>
                <a:ea typeface="Aptos"/>
                <a:cs typeface="Aptos"/>
              </a:rPr>
              <a:t>End user sees pending approval and closes the request.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819127-5084-44EF-AD81-C4F3EB9C0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66850"/>
            <a:ext cx="46291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AB3C5"/>
            </a:solidFill>
            <a:prstDash val="dash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ED72C3-9ECF-4C10-BC59-E76765DA5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76450"/>
            <a:ext cx="421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9738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97389"/>
                </a:solidFill>
                <a:latin typeface="Aptos"/>
                <a:ea typeface="Aptos"/>
                <a:cs typeface="Aptos"/>
              </a:rPr>
              <a:t>Screenshot placeholder: home / login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65E315-784C-48DC-8155-BD5D60B34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33750"/>
            <a:ext cx="46291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AB3C5"/>
            </a:solidFill>
            <a:prstDash val="dash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2092CC-AF77-49BA-B9DE-4C968811B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43350"/>
            <a:ext cx="421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9738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97389"/>
                </a:solidFill>
                <a:latin typeface="Aptos"/>
                <a:ea typeface="Aptos"/>
                <a:cs typeface="Aptos"/>
              </a:rPr>
              <a:t>Screenshot placeholder: work order modal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FEE5AB9-C95E-47CD-A67F-2A0375158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19700"/>
            <a:ext cx="447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6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67A"/>
                </a:solidFill>
                <a:latin typeface="Aptos"/>
                <a:ea typeface="Aptos"/>
                <a:cs typeface="Aptos"/>
              </a:rPr>
              <a:t>Keep the demo focused: prove the flow, then answer security questions using the encryption slide.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AB98EE6-D592-4CFA-B3EE-E50B25881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9829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98296"/>
                </a:solidFill>
                <a:latin typeface="Aptos"/>
                <a:ea typeface="Aptos"/>
                <a:cs typeface="Aptos"/>
              </a:rPr>
              <a:t>ServTrack Phase 1 demo | 09</a:t>
            </a:r>
          </a:p>
        </p:txBody>
      </p:sp>
    </p:spTree>
    <p:extLst>
      <p:ext uri="{BB962C8B-B14F-4D97-AF65-F5344CB8AC3E}">
        <p14:creationId xmlns:p14="http://schemas.microsoft.com/office/powerpoint/2010/main" val="117063633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9A9CB0-F78C-49D5-A71A-4593EAE05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5CE1C3-3A3D-444A-8538-B4314382B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5BE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5BEA"/>
                </a:solidFill>
                <a:latin typeface="Aptos"/>
                <a:ea typeface="Aptos"/>
                <a:cs typeface="Aptos"/>
              </a:rPr>
              <a:t>CLOSE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27FB14-4274-4AEF-9752-258F5A3FC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7810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Phase 1 readiness and practical next steps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DCA9F8-05A3-45F8-BF03-7DDC2B037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76400"/>
            <a:ext cx="3143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148D1B-F389-4803-A377-870685141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76400"/>
            <a:ext cx="476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999"/>
          </a:solidFill>
          <a:ln xmlns:a="http://schemas.openxmlformats.org/drawingml/2006/main" w="0">
            <a:solidFill>
              <a:srgbClr val="18A99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947BDB-B520-4712-A53A-832FB2956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2743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Ready to show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E6153A-47B9-444C-A6A2-EC8288120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7432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6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67A"/>
                </a:solidFill>
                <a:latin typeface="Aptos"/>
                <a:ea typeface="Aptos"/>
                <a:cs typeface="Aptos"/>
              </a:rPr>
              <a:t>Role-based dashboards, client-scoped contracts, end-user OTP access, work-order lifecycle, supervisor QC, requester approval, and encrypted end-user PII.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331B16-345A-4F5E-9AB6-FA213481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676400"/>
            <a:ext cx="3143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5B64A7-9AAF-4508-8611-D601AC71E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676400"/>
            <a:ext cx="476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BEA"/>
          </a:solidFill>
          <a:ln xmlns:a="http://schemas.openxmlformats.org/drawingml/2006/main" w="0">
            <a:solidFill>
              <a:srgbClr val="2F5B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0FEB79-0D47-4757-B1C4-EF6170B84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847850"/>
            <a:ext cx="2743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Fixed for demo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69464F-7715-4A59-A093-F77FBEB31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190750"/>
            <a:ext cx="27432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6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67A"/>
                </a:solidFill>
                <a:latin typeface="Aptos"/>
                <a:ea typeface="Aptos"/>
                <a:cs typeface="Aptos"/>
              </a:rPr>
              <a:t>Dashboard loading no longer flashes zero values. Existing contractor contracts are tenant-scoped. Contractor team assignment moves work into the right supervisor/workman queues.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A0382F-1E0F-41BE-82F4-22D0A2EB5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676400"/>
            <a:ext cx="3143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59BFAE-ECBE-493D-B0A2-C0CF6DDB4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676400"/>
            <a:ext cx="476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A202"/>
          </a:solidFill>
          <a:ln xmlns:a="http://schemas.openxmlformats.org/drawingml/2006/main" w="0">
            <a:solidFill>
              <a:srgbClr val="F0A20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9B2255-886D-4967-8745-202E6ED92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847850"/>
            <a:ext cx="2743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Next hardening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FC21AD-B8B1-46B2-8594-901E3931E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190750"/>
            <a:ext cx="27432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6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67A"/>
                </a:solidFill>
                <a:latin typeface="Aptos"/>
                <a:ea typeface="Aptos"/>
                <a:cs typeface="Aptos"/>
              </a:rPr>
              <a:t>Configure production Twilio sender, move startup schema changes into migrations, add audit/export controls, complete analytics/assets, and add deeper automated flow tests.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FCF00F-B762-49D3-B996-724BD815A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914900"/>
            <a:ext cx="84963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37E8EA-91DA-4392-896A-6F5F3D358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095875"/>
            <a:ext cx="784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Suggested demo ending: "Phase 1 proves the operating workflow. Next, we harden delivery channels, reporting, and production migration discipline."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DAAF5E-DF5D-4E54-984D-1AF499171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9829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98296"/>
                </a:solidFill>
                <a:latin typeface="Aptos"/>
                <a:ea typeface="Aptos"/>
                <a:cs typeface="Aptos"/>
              </a:rPr>
              <a:t>ServTrack Phase 1 demo | 10</a:t>
            </a:r>
          </a:p>
        </p:txBody>
      </p:sp>
    </p:spTree>
    <p:extLst>
      <p:ext uri="{BB962C8B-B14F-4D97-AF65-F5344CB8AC3E}">
        <p14:creationId xmlns:p14="http://schemas.microsoft.com/office/powerpoint/2010/main" val="2480656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2026-05-12T02:16:51.2540000Z</dcterms:created>
  <dcterms:modified xsi:type="dcterms:W3CDTF">2026-05-12T02:16:51.2540000Z</dcterms:modified>
</coreProperties>
</file>